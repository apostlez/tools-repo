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49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0584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 i="0">
                <a:solidFill>
                  <a:srgbClr val="00D4FF"/>
                </a:solidFill>
                <a:latin typeface="Malgun Gothic"/>
              </a:rPr>
              <a:t>AI 시대의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 dirty="0" err="1">
                <a:solidFill>
                  <a:srgbClr val="FFFFFF"/>
                </a:solidFill>
                <a:latin typeface="Malgun Gothic"/>
              </a:rPr>
              <a:t>소프트웨어</a:t>
            </a:r>
            <a:r>
              <a:rPr sz="44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Malgun Gothic"/>
              </a:rPr>
              <a:t>개발자의</a:t>
            </a:r>
            <a:endParaRPr sz="44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0584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 dirty="0" err="1">
                <a:solidFill>
                  <a:srgbClr val="FFFFFF"/>
                </a:solidFill>
                <a:latin typeface="Malgun Gothic"/>
              </a:rPr>
              <a:t>새로운</a:t>
            </a:r>
            <a:r>
              <a:rPr sz="44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Malgun Gothic"/>
              </a:rPr>
              <a:t>역할</a:t>
            </a:r>
            <a:endParaRPr sz="44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4480560"/>
            <a:ext cx="30175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 err="1">
                <a:solidFill>
                  <a:srgbClr val="B0BEC5"/>
                </a:solidFill>
                <a:latin typeface="Malgun Gothic"/>
              </a:rPr>
              <a:t>건국대학교사범대학부속고등학교</a:t>
            </a:r>
            <a:r>
              <a:rPr sz="1800" b="0" i="0" dirty="0">
                <a:solidFill>
                  <a:srgbClr val="B0BEC5"/>
                </a:solidFill>
                <a:latin typeface="Malgun Gothic"/>
              </a:rPr>
              <a:t>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D4FF"/>
                </a:solidFill>
                <a:latin typeface="Malgun Gothic"/>
              </a:rPr>
              <a:t>오늘 강의에서 다룰 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1280160" cy="50292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1874520"/>
            <a:ext cx="9814255" cy="50292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1109441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1280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  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74520"/>
            <a:ext cx="9814255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  주제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280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0" y="2377440"/>
            <a:ext cx="9814255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958084"/>
            <a:ext cx="11094415" cy="1371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377440"/>
            <a:ext cx="12801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377440"/>
            <a:ext cx="98142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강사 소개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1280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0" y="2971800"/>
            <a:ext cx="9814255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552444"/>
            <a:ext cx="11094415" cy="1371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971800"/>
            <a:ext cx="12801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971800"/>
            <a:ext cx="98142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문제 제기 — 개발자, 사라지는 걸까?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1280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0" y="3566160"/>
            <a:ext cx="9814255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146804"/>
            <a:ext cx="11094415" cy="1371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12801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566160"/>
            <a:ext cx="98142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현상 분석 — 실제로 무슨 일이 일어나고 있나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60520"/>
            <a:ext cx="1280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828800" y="4160520"/>
            <a:ext cx="9814255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741164"/>
            <a:ext cx="11094415" cy="1371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160520"/>
            <a:ext cx="12801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160520"/>
            <a:ext cx="98142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사례 제시 — AI가 못하는 영역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54880"/>
            <a:ext cx="1280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828800" y="4754880"/>
            <a:ext cx="9814255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335524"/>
            <a:ext cx="11094415" cy="1371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12801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754880"/>
            <a:ext cx="98142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업무의 변화 — 내 일상이 달라졌다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49240"/>
            <a:ext cx="128016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828800" y="5349240"/>
            <a:ext cx="9814255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5929884"/>
            <a:ext cx="11094415" cy="1371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349240"/>
            <a:ext cx="12801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349240"/>
            <a:ext cx="98142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앞으로의 전망 — 개발자의 삶, 불확실성, 나의 결정과 준비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01. 강사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6492057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92057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616287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오늘 이 자리에 온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66544"/>
            <a:ext cx="6162873" cy="3867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600" b="0" i="0">
                <a:solidFill>
                  <a:srgbClr val="FFFFFF"/>
                </a:solidFill>
                <a:latin typeface="Malgun Gothic"/>
              </a:rPr>
              <a:t>AI가 개발자를 대체한다는 뉴스, 여러분도 들어봤나요?</a:t>
            </a:r>
          </a:p>
          <a:p>
            <a:pPr>
              <a:lnSpc>
                <a:spcPct val="13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600" b="0" i="0">
                <a:solidFill>
                  <a:srgbClr val="FFFFFF"/>
                </a:solidFill>
                <a:latin typeface="Malgun Gothic"/>
              </a:rPr>
              <a:t>현직 개발자로서 </a:t>
            </a:r>
            <a:r>
              <a:rPr sz="1600" b="1" i="0">
                <a:solidFill>
                  <a:srgbClr val="FFD700"/>
                </a:solidFill>
                <a:latin typeface="Malgun Gothic"/>
              </a:rPr>
              <a:t>실제 변화를 직접 겪고 있습니다</a:t>
            </a:r>
          </a:p>
          <a:p>
            <a:pPr>
              <a:lnSpc>
                <a:spcPct val="13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600" b="0" i="0">
                <a:solidFill>
                  <a:srgbClr val="FFFFFF"/>
                </a:solidFill>
                <a:latin typeface="Malgun Gothic"/>
              </a:rPr>
              <a:t>매체로 접하는 이야기 vs 현업의 목소리</a:t>
            </a:r>
          </a:p>
          <a:p>
            <a:pPr>
              <a:lnSpc>
                <a:spcPct val="13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600" b="0" i="0">
                <a:solidFill>
                  <a:srgbClr val="FFFFFF"/>
                </a:solidFill>
                <a:latin typeface="Malgun Gothic"/>
              </a:rPr>
              <a:t>여러분이 미래를 선택하는 데 도움이 되길 바랍니다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017" y="1417320"/>
            <a:ext cx="4328038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017" y="1417320"/>
            <a:ext cx="432803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9609" y="1563624"/>
            <a:ext cx="39988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프로필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609" y="2066544"/>
            <a:ext cx="3998854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D700"/>
                </a:solidFill>
                <a:latin typeface="Malgun Gothic"/>
              </a:rPr>
              <a:t>플랫폼 소프트웨어 개발자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2523744"/>
            <a:ext cx="3998854" cy="33649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LG전자 CTO Software Platform Lab</a:t>
            </a:r>
          </a:p>
          <a:p>
            <a:pPr>
              <a:lnSpc>
                <a:spcPct val="135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2012 ~</a:t>
            </a:r>
          </a:p>
          <a:p>
            <a:pPr>
              <a:lnSpc>
                <a:spcPct val="135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webOS, ThinQ, UP가전</a:t>
            </a:r>
          </a:p>
          <a:p>
            <a:pPr>
              <a:lnSpc>
                <a:spcPct val="135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AI 도구 도입·활용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02. 뉴스로 본 현실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D4FF"/>
                </a:solidFill>
                <a:latin typeface="Malgun Gothic"/>
              </a:rPr>
              <a:t>AI 도입 이후 일어나고 있는 일들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45738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4573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32165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대규모 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69464"/>
            <a:ext cx="3216554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구글·메타 등 빅테크,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AI 도입 이후</a:t>
            </a:r>
            <a:r>
              <a:rPr sz="1500" b="0" i="0">
                <a:solidFill>
                  <a:srgbClr val="E0F0FF"/>
                </a:solidFill>
                <a:latin typeface="Malgun Gothic"/>
              </a:rPr>
              <a:t> 수만 명 SW 개발자 정리해고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1783080"/>
            <a:ext cx="3545738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2978" y="1783080"/>
            <a:ext cx="3545738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7570" y="1929384"/>
            <a:ext cx="32165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앱 생태계 혼란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7570" y="2569464"/>
            <a:ext cx="3216554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AI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바이브 코딩</a:t>
            </a:r>
            <a:r>
              <a:rPr sz="1500" b="0" i="0">
                <a:solidFill>
                  <a:srgbClr val="E0F0FF"/>
                </a:solidFill>
                <a:latin typeface="Malgun Gothic"/>
              </a:rPr>
              <a:t>으로 앱 스토어에 저품질 앱이 폭발적으로 증가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1783080"/>
            <a:ext cx="3545738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7316" y="1783080"/>
            <a:ext cx="354573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1908" y="1929384"/>
            <a:ext cx="32165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AI가 코드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1908" y="2569464"/>
            <a:ext cx="3216554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0F0FF"/>
                </a:solidFill>
                <a:latin typeface="Malgun Gothic"/>
              </a:rPr>
              <a:t>GitHub Copilot 등 AI 코딩 도우미,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생산성 55% 향상</a:t>
            </a:r>
            <a:r>
              <a:rPr sz="1500" b="0" i="0">
                <a:solidFill>
                  <a:srgbClr val="E0F0FF"/>
                </a:solidFill>
                <a:latin typeface="Malgun Gothic"/>
              </a:rPr>
              <a:t>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11094415" cy="64008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10728655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D700"/>
                </a:solidFill>
                <a:latin typeface="Malgun Gothic"/>
              </a:rPr>
              <a:t>그렇다면 앞으로 SW 개발자의 전망은?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03. SW 개발자의 세계 — 얼마나 다양한가?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64327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전 세계 SW 개발자 직군 비율 (추정)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920240"/>
            <a:ext cx="18288" cy="310896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웹/앱 개발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1920240"/>
            <a:ext cx="2716943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11503" y="1920240"/>
            <a:ext cx="6400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1468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서버/백엔드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2601468"/>
            <a:ext cx="905647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0207" y="2601468"/>
            <a:ext cx="6400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82696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시스템 SW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3282696"/>
            <a:ext cx="452823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47383" y="3282696"/>
            <a:ext cx="6400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63924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임베디드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3963924"/>
            <a:ext cx="316976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11536" y="3963924"/>
            <a:ext cx="6400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45152"/>
            <a:ext cx="14630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기타(AI·보안 등)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4645152"/>
            <a:ext cx="135847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30407" y="4645152"/>
            <a:ext cx="6400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5364327" cy="45720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166360"/>
            <a:ext cx="4998567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D700"/>
                </a:solidFill>
                <a:latin typeface="Malgun Gothic"/>
              </a:rPr>
              <a:t>하지만 개발자는 명확한 역할 분리가 어렵다.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8727" y="1417320"/>
            <a:ext cx="5364327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8727" y="1417320"/>
            <a:ext cx="5364327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3319" y="1563624"/>
            <a:ext cx="503514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핵심 인사이트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319" y="2066544"/>
            <a:ext cx="5035143" cy="3867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AI 코딩이 가장 큰 영향을 주는 분야는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웹·앱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 개발 영역</a:t>
            </a:r>
          </a:p>
          <a:p>
            <a:pPr>
              <a:lnSpc>
                <a:spcPct val="15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시스템·임베디드·보안은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AI가 쉽게 대체하기 어렵다</a:t>
            </a:r>
          </a:p>
          <a:p>
            <a:pPr>
              <a:lnSpc>
                <a:spcPct val="15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AI 발전 → 새로운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AI 관련 직군이 새로 생겨나는 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03. AI가 잘하는 것 vs 시장이 원하는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64327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364327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503514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0D4FF"/>
                </a:solidFill>
                <a:latin typeface="Malgun Gothic"/>
              </a:rPr>
              <a:t>AI 코딩 도구 사용 언어 TOP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66544"/>
            <a:ext cx="5035143" cy="41148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450592"/>
            <a:ext cx="5035143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06654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  언어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4318" y="2066544"/>
            <a:ext cx="192261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점유율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47802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287853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247802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4318" y="247802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35%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88950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329001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88950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4318" y="288950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28%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30098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370149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330098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4318" y="330098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15%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371246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3232" y="411297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" y="371246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Java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4318" y="371246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12%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12394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" y="452445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412394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기타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4318" y="412394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718304"/>
            <a:ext cx="503514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0BEC5"/>
                </a:solidFill>
                <a:latin typeface="Malgun Gothic"/>
              </a:rPr>
              <a:t>→ 주로 웹·데이터·스크립트 영역에 집중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8727" y="1417320"/>
            <a:ext cx="5364327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78727" y="1417320"/>
            <a:ext cx="5364327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3319" y="1563624"/>
            <a:ext cx="503514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D700"/>
                </a:solidFill>
                <a:latin typeface="Malgun Gothic"/>
              </a:rPr>
              <a:t>글로벌 SW 시장 규모 (2025 추정)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3319" y="2066544"/>
            <a:ext cx="5035143" cy="41148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43319" y="2450592"/>
            <a:ext cx="5035143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4759" y="206654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  분야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405" y="2066544"/>
            <a:ext cx="192261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규모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3319" y="247802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43319" y="287853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0479" y="247802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클라우드 서비스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405" y="247802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D700"/>
                </a:solidFill>
                <a:latin typeface="Malgun Gothic"/>
              </a:rPr>
              <a:t>$800B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3319" y="288950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43319" y="329001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0479" y="288950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엔터프라이즈 SW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405" y="288950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$650B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3319" y="330098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43319" y="370149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0479" y="330098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임베디드·IoT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405" y="330098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$300B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3319" y="371246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43319" y="411297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0479" y="371246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AI/ML 플랫폼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64405" y="371246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$200B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3319" y="4123944"/>
            <a:ext cx="5035143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43319" y="4524452"/>
            <a:ext cx="5035143" cy="10972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0479" y="4123944"/>
            <a:ext cx="302108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0F0FF"/>
                </a:solidFill>
                <a:latin typeface="Malgun Gothic"/>
              </a:rPr>
              <a:t>보안 SW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405" y="4123944"/>
            <a:ext cx="1876897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$180B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04. 사례 ① 임베디드 소프트웨어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D4FF"/>
                </a:solidFill>
                <a:latin typeface="Malgun Gothic"/>
              </a:rPr>
              <a:t>AI가 쉽게 들어오지 못하는 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492057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92057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6162873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8000"/>
                </a:solidFill>
                <a:latin typeface="Malgun Gothic"/>
              </a:rPr>
              <a:t>임베디드란?</a:t>
            </a:r>
            <a:r>
              <a:rPr sz="1400" b="0" i="0">
                <a:solidFill>
                  <a:srgbClr val="E0F0FF"/>
                </a:solidFill>
                <a:latin typeface="Malgun Gothic"/>
              </a:rPr>
              <a:t> — 세탁기·TV·자동차 안에 들어가는 소프트웨어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78024"/>
            <a:ext cx="6162873" cy="34564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45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외부에 공개되지 않는 </a:t>
            </a:r>
            <a:r>
              <a:rPr sz="1400" b="1" i="0">
                <a:solidFill>
                  <a:srgbClr val="FFD700"/>
                </a:solidFill>
                <a:latin typeface="Malgun Gothic"/>
              </a:rPr>
              <a:t>독점 코드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 → AI 학습 데이터 없음</a:t>
            </a:r>
          </a:p>
          <a:p>
            <a:pPr>
              <a:lnSpc>
                <a:spcPct val="145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하드웨어와 밀접 → </a:t>
            </a:r>
            <a:r>
              <a:rPr sz="1400" b="1" i="0">
                <a:solidFill>
                  <a:srgbClr val="FFD700"/>
                </a:solidFill>
                <a:latin typeface="Malgun Gothic"/>
              </a:rPr>
              <a:t>물리적 테스트 없이 검증 불가</a:t>
            </a:r>
          </a:p>
          <a:p>
            <a:pPr>
              <a:lnSpc>
                <a:spcPct val="145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AI 할루시네이션(엉뚱한 코드)이 하드웨어 고장으로 이어짐</a:t>
            </a:r>
          </a:p>
          <a:p>
            <a:pPr>
              <a:lnSpc>
                <a:spcPct val="145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현장에서 통하는 농담: </a:t>
            </a:r>
            <a:r>
              <a:rPr sz="1400" b="0" i="1">
                <a:solidFill>
                  <a:srgbClr val="B0BEC5"/>
                </a:solidFill>
                <a:latin typeface="Malgun Gothic"/>
              </a:rPr>
              <a:t>"우리는 AI의 인간 하네스가 됐다"</a:t>
            </a:r>
          </a:p>
          <a:p>
            <a:pPr>
              <a:lnSpc>
                <a:spcPct val="145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그러나 </a:t>
            </a:r>
            <a:r>
              <a:rPr sz="1400" b="1" i="0">
                <a:solidFill>
                  <a:srgbClr val="FFD700"/>
                </a:solidFill>
                <a:latin typeface="Malgun Gothic"/>
              </a:rPr>
              <a:t>문서 작성·패턴 분석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에는 AI가 크게 도움됨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017" y="1783080"/>
            <a:ext cx="4328038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017" y="1783080"/>
            <a:ext cx="4328038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79609" y="1929384"/>
            <a:ext cx="39988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8000"/>
                </a:solidFill>
                <a:latin typeface="Malgun Gothic"/>
              </a:rPr>
              <a:t>개발자 반응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609" y="2432304"/>
            <a:ext cx="3998854" cy="12161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algun Gothic"/>
              </a:rPr>
              <a:t>AI 도입을 환영하지만</a:t>
            </a:r>
          </a:p>
          <a:p>
            <a:pPr algn="ctr">
              <a:lnSpc>
                <a:spcPct val="150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생각만큼 활용하지</a:t>
            </a:r>
          </a:p>
          <a:p>
            <a:pPr algn="ctr">
              <a:lnSpc>
                <a:spcPct val="150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못하고 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017" y="4069080"/>
            <a:ext cx="4328038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017" y="4069080"/>
            <a:ext cx="432803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609" y="4215384"/>
            <a:ext cx="39988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0D4FF"/>
                </a:solidFill>
                <a:latin typeface="Malgun Gothic"/>
              </a:rPr>
              <a:t>핵심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609" y="4718304"/>
            <a:ext cx="3998854" cy="12161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algun Gothic"/>
              </a:rPr>
              <a:t>전문 도메인 지식 +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algun Gothic"/>
              </a:rPr>
              <a:t>하드웨어 이해는</a:t>
            </a:r>
          </a:p>
          <a:p>
            <a:pPr algn="ctr">
              <a:lnSpc>
                <a:spcPct val="150000"/>
              </a:lnSpc>
            </a:pPr>
            <a:r>
              <a:rPr sz="1600" b="1" i="0">
                <a:solidFill>
                  <a:srgbClr val="FFD700"/>
                </a:solidFill>
                <a:latin typeface="Malgun Gothic"/>
              </a:rPr>
              <a:t>여전히 인간의 영역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04. 사례 ② 보안 · 금융 · 방위산업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D4FF"/>
                </a:solidFill>
                <a:latin typeface="Malgun Gothic"/>
              </a:rPr>
              <a:t>신뢰성과 검증이 최우선인 분야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45738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4573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32165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보안 분야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78024"/>
            <a:ext cx="3216554" cy="34564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AI 생성 코드에서 </a:t>
            </a:r>
            <a:r>
              <a:rPr sz="1300" b="1" i="0">
                <a:solidFill>
                  <a:srgbClr val="FFD700"/>
                </a:solidFill>
                <a:latin typeface="Malgun Gothic"/>
              </a:rPr>
              <a:t>보안 취약점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 발견 사례 증가</a:t>
            </a:r>
          </a:p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OWASP Top 10 — AI도 이 실수를 반복함</a:t>
            </a:r>
          </a:p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오히려 보안 검증 전문가 수요 증가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1783080"/>
            <a:ext cx="3545738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2978" y="1783080"/>
            <a:ext cx="3545738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7570" y="1929384"/>
            <a:ext cx="32165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금융 분야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7570" y="2478024"/>
            <a:ext cx="3216554" cy="34564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금융 사고 예방 = </a:t>
            </a:r>
            <a:r>
              <a:rPr sz="1300" b="1" i="0">
                <a:solidFill>
                  <a:srgbClr val="FFD700"/>
                </a:solidFill>
                <a:latin typeface="Malgun Gothic"/>
              </a:rPr>
              <a:t>수천억 원 손실 방지</a:t>
            </a:r>
          </a:p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규제·컴플라이언스 코드는 AI가 임의 생성 불가</a:t>
            </a:r>
          </a:p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AI 코드 감사(audit) 전문가가 새 직군으로 등장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1783080"/>
            <a:ext cx="3545738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7316" y="1783080"/>
            <a:ext cx="3545738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1908" y="1929384"/>
            <a:ext cx="321655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8000"/>
                </a:solidFill>
                <a:latin typeface="Malgun Gothic"/>
              </a:rPr>
              <a:t>방위산업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1908" y="2478024"/>
            <a:ext cx="3216554" cy="34564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이중·삼중 안전장치 의무화</a:t>
            </a:r>
          </a:p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AI 생성 코드는 </a:t>
            </a:r>
            <a:r>
              <a:rPr sz="1300" b="1" i="0">
                <a:solidFill>
                  <a:srgbClr val="FFD700"/>
                </a:solidFill>
                <a:latin typeface="Malgun Gothic"/>
              </a:rPr>
              <a:t>보안 인증 통과 불가</a:t>
            </a:r>
          </a:p>
          <a:p>
            <a:pPr>
              <a:lnSpc>
                <a:spcPct val="150000"/>
              </a:lnSpc>
            </a:pPr>
            <a:r>
              <a:rPr sz="13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전문 인력의 역할이 오히려 더 중요해짐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05. 내 일상이 달라졌다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D4FF"/>
                </a:solidFill>
                <a:latin typeface="Malgun Gothic"/>
              </a:rPr>
              <a:t>현직 개발자가 경험한 AI 도입 전·후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087209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208720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175802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코드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32304"/>
            <a:ext cx="175802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95% 감소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80944"/>
            <a:ext cx="1758025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0F0FF"/>
                </a:solidFill>
                <a:latin typeface="Malgun Gothic"/>
              </a:rPr>
              <a:t>설계·기능 명세 후 직접 코딩하는 시간이 거의 사라짐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0441" y="1783080"/>
            <a:ext cx="2087209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00441" y="1783080"/>
            <a:ext cx="2087209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5033" y="1929384"/>
            <a:ext cx="175802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문서 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5033" y="2432304"/>
            <a:ext cx="175802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줄었다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5033" y="2980944"/>
            <a:ext cx="1758025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0F0FF"/>
                </a:solidFill>
                <a:latin typeface="Malgun Gothic"/>
              </a:rPr>
              <a:t>가장 힘든 업무였던 코드 설명 문서를 AI가 초안 작성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2242" y="1783080"/>
            <a:ext cx="2087209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52242" y="1783080"/>
            <a:ext cx="2087209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6834" y="1929384"/>
            <a:ext cx="175802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자료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6834" y="2432304"/>
            <a:ext cx="175802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빨라졌다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6834" y="2980944"/>
            <a:ext cx="1758025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0F0FF"/>
                </a:solidFill>
                <a:latin typeface="Malgun Gothic"/>
              </a:rPr>
              <a:t>연구개발 실험·결과 정리·통계 분석을 AI로 대체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4044" y="1783080"/>
            <a:ext cx="2087209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04044" y="1783080"/>
            <a:ext cx="2087209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8636" y="1929384"/>
            <a:ext cx="175802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8000"/>
                </a:solidFill>
                <a:latin typeface="Malgun Gothic"/>
              </a:rPr>
              <a:t>유튜브 시청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8636" y="2432304"/>
            <a:ext cx="175802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줄었다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636" y="2980944"/>
            <a:ext cx="1758025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0F0FF"/>
                </a:solidFill>
                <a:latin typeface="Malgun Gothic"/>
              </a:rPr>
              <a:t>공식 문서·영상을 AI가 즉시 요약. 데모 영상도 AI 제작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845" y="1783080"/>
            <a:ext cx="2087209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55845" y="1783080"/>
            <a:ext cx="2087209" cy="54864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20437" y="1929384"/>
            <a:ext cx="1758025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4080"/>
                </a:solidFill>
                <a:latin typeface="Malgun Gothic"/>
              </a:rPr>
              <a:t>할 일의 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437" y="2432304"/>
            <a:ext cx="1758025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늘었다!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437" y="2980944"/>
            <a:ext cx="1758025" cy="1810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E0F0FF"/>
                </a:solidFill>
                <a:latin typeface="Malgun Gothic"/>
              </a:rPr>
              <a:t>1년 계획이 3개월 만에 끝나서 더 할 일을 찾고 있음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12080"/>
            <a:ext cx="11094415" cy="59436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07286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생산성이 오를수록, 더 많은 일·더 큰 목표가 생긴다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06-1. 앞으로의 전망 — 개발자의 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6492057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92057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616287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0BEC5"/>
                </a:solidFill>
                <a:latin typeface="Malgun Gothic"/>
              </a:rPr>
              <a:t>10년 전에 10년·20년 후를 상상했을 때와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29384"/>
            <a:ext cx="6162873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D4FF"/>
                </a:solidFill>
                <a:latin typeface="Malgun Gothic"/>
              </a:rPr>
              <a:t>크게 다르지 않다 — 끊임없는 학습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615184"/>
            <a:ext cx="6162873" cy="2286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752344"/>
            <a:ext cx="6162873" cy="31821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1" i="0">
                <a:solidFill>
                  <a:srgbClr val="FFD700"/>
                </a:solidFill>
                <a:latin typeface="Malgun Gothic"/>
              </a:rPr>
              <a:t>끊임없는 학습과 자기 계발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 — 새 언어·프레임워크가 나올 때마다 배워왔다 → AI 도구도 마찬가지</a:t>
            </a:r>
          </a:p>
          <a:p>
            <a:pPr>
              <a:lnSpc>
                <a:spcPct val="150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1" i="0">
                <a:solidFill>
                  <a:srgbClr val="FFD700"/>
                </a:solidFill>
                <a:latin typeface="Malgun Gothic"/>
              </a:rPr>
              <a:t>전문가의 역할은 더 커진다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 — 확실한 미래</a:t>
            </a:r>
          </a:p>
          <a:p>
            <a:pPr>
              <a:lnSpc>
                <a:spcPct val="150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비전문가가 늘어나면서 </a:t>
            </a:r>
            <a:r>
              <a:rPr sz="1400" b="1" i="0">
                <a:solidFill>
                  <a:srgbClr val="FFD700"/>
                </a:solidFill>
                <a:latin typeface="Malgun Gothic"/>
              </a:rPr>
              <a:t>전문가의 진입 장벽이 더 높아짐</a:t>
            </a:r>
          </a:p>
          <a:p>
            <a:pPr>
              <a:lnSpc>
                <a:spcPct val="150000"/>
              </a:lnSpc>
            </a:pPr>
            <a:r>
              <a:rPr sz="14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400" b="1" i="0">
                <a:solidFill>
                  <a:srgbClr val="FFD700"/>
                </a:solidFill>
                <a:latin typeface="Malgun Gothic"/>
              </a:rPr>
              <a:t>AI 도구를 다루는 기술 자체가 하나의 능력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017" y="1417320"/>
            <a:ext cx="4328038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017" y="1417320"/>
            <a:ext cx="54864" cy="4663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337" y="1874520"/>
            <a:ext cx="3870838" cy="3749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FFFFFF"/>
                </a:solidFill>
                <a:latin typeface="Malgun Gothic"/>
              </a:rPr>
              <a:t>AI는 주니어 개발자를 대체하는 것이 아니라,</a:t>
            </a:r>
          </a:p>
          <a:p>
            <a:pPr algn="l">
              <a:lnSpc>
                <a:spcPct val="140000"/>
              </a:lnSpc>
            </a:pPr>
            <a:endParaRPr sz="1400" b="0" i="1">
              <a:solidFill>
                <a:srgbClr val="FFFFFF"/>
              </a:solidFill>
              <a:latin typeface="Malgun Gothic"/>
            </a:endParaRPr>
          </a:p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FFD700"/>
                </a:solidFill>
                <a:latin typeface="Malgun Gothic"/>
              </a:rPr>
              <a:t>AI를 쓰는 개발자가</a:t>
            </a:r>
          </a:p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FFD700"/>
                </a:solidFill>
                <a:latin typeface="Malgun Gothic"/>
              </a:rPr>
              <a:t>AI를 안 쓰는 개발자를 대체한다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337" y="5532120"/>
            <a:ext cx="387083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0BEC5"/>
                </a:solidFill>
                <a:latin typeface="Malgun Gothic"/>
              </a:rPr>
              <a:t>— 실리콘밸리 엔지니어링 리더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06-2. 앞으로의 전망 — 미래의 불확실성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36443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36443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230725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D700"/>
                </a:solidFill>
                <a:latin typeface="Malgun Gothic"/>
              </a:rPr>
              <a:t>비트코인의 교훈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03704"/>
            <a:ext cx="2307259" cy="3730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처음엔 </a:t>
            </a:r>
            <a:r>
              <a:rPr sz="1300" b="0" i="1">
                <a:solidFill>
                  <a:srgbClr val="B0BEC5"/>
                </a:solidFill>
                <a:latin typeface="Malgun Gothic"/>
              </a:rPr>
              <a:t>"암호키 다단계 아냐?"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 → 지금은 디지털 금. </a:t>
            </a:r>
            <a:r>
              <a:rPr sz="1300" b="1" i="0">
                <a:solidFill>
                  <a:srgbClr val="FFD700"/>
                </a:solidFill>
                <a:latin typeface="Malgun Gothic"/>
              </a:rPr>
              <a:t>양자 컴퓨터가 나오면?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 아무도 모른다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7963" y="1417320"/>
            <a:ext cx="2636443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67963" y="1417320"/>
            <a:ext cx="2636443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2555" y="1563624"/>
            <a:ext cx="230725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0D4FF"/>
                </a:solidFill>
                <a:latin typeface="Malgun Gothic"/>
              </a:rPr>
              <a:t>정치적 영향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2555" y="2203704"/>
            <a:ext cx="2307259" cy="3730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기술 도입은 </a:t>
            </a:r>
            <a:r>
              <a:rPr sz="1300" b="1" i="0">
                <a:solidFill>
                  <a:srgbClr val="FFD700"/>
                </a:solidFill>
                <a:latin typeface="Malgun Gothic"/>
              </a:rPr>
              <a:t>효용·경제성보다 정치적 영향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이 더 큼. 의료·법률 AI 도입의 가장 큰 걸림돌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417320"/>
            <a:ext cx="2636443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7287" y="1417320"/>
            <a:ext cx="2636443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1879" y="1563624"/>
            <a:ext cx="230725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8000"/>
                </a:solidFill>
                <a:latin typeface="Malgun Gothic"/>
              </a:rPr>
              <a:t>트렌드 속도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2203704"/>
            <a:ext cx="2307259" cy="3730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기술 변화 속도가 </a:t>
            </a:r>
            <a:r>
              <a:rPr sz="1300" b="1" i="0">
                <a:solidFill>
                  <a:srgbClr val="FFD700"/>
                </a:solidFill>
                <a:latin typeface="Malgun Gothic"/>
              </a:rPr>
              <a:t>점점 빨라진다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. 특정 분야에 집중하지 않으면 따라잡기 어려움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611" y="1417320"/>
            <a:ext cx="2636443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611" y="1417320"/>
            <a:ext cx="2636443" cy="54864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71203" y="1563624"/>
            <a:ext cx="230725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4080"/>
                </a:solidFill>
                <a:latin typeface="Malgun Gothic"/>
              </a:rPr>
              <a:t>AI 신뢰성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203" y="2203704"/>
            <a:ext cx="2307259" cy="37307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E0F0FF"/>
                </a:solidFill>
                <a:latin typeface="Malgun Gothic"/>
              </a:rPr>
              <a:t>작고 단순한 작업은 OK. </a:t>
            </a:r>
            <a:r>
              <a:rPr sz="1300" b="1" i="0">
                <a:solidFill>
                  <a:srgbClr val="FFD700"/>
                </a:solidFill>
                <a:latin typeface="Malgun Gothic"/>
              </a:rPr>
              <a:t>크고 복잡한 영역</a:t>
            </a:r>
            <a:r>
              <a:rPr sz="1300" b="0" i="0">
                <a:solidFill>
                  <a:srgbClr val="E0F0FF"/>
                </a:solidFill>
                <a:latin typeface="Malgun Gothic"/>
              </a:rPr>
              <a:t>에서 AI의 처리 능력은 아직 믿기 어려움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06-3 / 06-4. 나를 위한 결정과 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64327" cy="4069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364327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503514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나를 위한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12264"/>
            <a:ext cx="5035143" cy="32278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6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내가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하고 싶은 것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, 원하는 것</a:t>
            </a:r>
          </a:p>
          <a:p>
            <a:pPr>
              <a:lnSpc>
                <a:spcPct val="16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무엇을 공부할지는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내가 결정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하는 것</a:t>
            </a:r>
          </a:p>
          <a:p>
            <a:pPr>
              <a:lnSpc>
                <a:spcPct val="16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남의 말·뉴스에 휩쓸리지 말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417320"/>
            <a:ext cx="5364327" cy="4069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1417320"/>
            <a:ext cx="5364327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3319" y="1563624"/>
            <a:ext cx="503514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불확실성에 대응하는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19" y="2112264"/>
            <a:ext cx="5035143" cy="32278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lnSpc>
                <a:spcPct val="16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학습과 부지런한 정보 수집</a:t>
            </a:r>
          </a:p>
          <a:p>
            <a:pPr>
              <a:lnSpc>
                <a:spcPct val="16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현상을 분석·이해하는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안목과 유연성</a:t>
            </a:r>
          </a:p>
          <a:p>
            <a:pPr>
              <a:lnSpc>
                <a:spcPct val="16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공식 문서 + AI 요약 조합 활용</a:t>
            </a:r>
          </a:p>
          <a:p>
            <a:pPr>
              <a:lnSpc>
                <a:spcPct val="160000"/>
              </a:lnSpc>
            </a:pPr>
            <a:r>
              <a:rPr sz="1500" b="1" i="0">
                <a:solidFill>
                  <a:srgbClr val="00D4FF"/>
                </a:solidFill>
                <a:latin typeface="Malgun Gothic"/>
              </a:rPr>
              <a:t>•  </a:t>
            </a:r>
            <a:r>
              <a:rPr sz="1500" b="0" i="0">
                <a:solidFill>
                  <a:srgbClr val="FFFFFF"/>
                </a:solidFill>
                <a:latin typeface="Malgun Gothic"/>
              </a:rPr>
              <a:t>작은 프로젝트로 </a:t>
            </a:r>
            <a:r>
              <a:rPr sz="1500" b="1" i="0">
                <a:solidFill>
                  <a:srgbClr val="FFD700"/>
                </a:solidFill>
                <a:latin typeface="Malgun Gothic"/>
              </a:rPr>
              <a:t>직접 써보고 느껴라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11094415" cy="59436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728655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불확실한 미래일수록, 결정의 주체는 '나' 자신이다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B0BEC5"/>
                </a:solidFill>
                <a:latin typeface="Malgun Gothic"/>
              </a:rPr>
              <a:t>AI 시대의 소프트웨어 개발자의 새로운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B0BEC5"/>
                </a:solidFill>
                <a:latin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마무리 — 여러분에게 전하고 싶은 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94415" cy="36576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64327" cy="4663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364327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5035143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D4FF"/>
                </a:solidFill>
                <a:latin typeface="Malgun Gothic"/>
              </a:rPr>
              <a:t>오늘의 핵심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12264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112264"/>
            <a:ext cx="4623663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Malgun Gothic"/>
              </a:rPr>
              <a:t>AI가 모든 개발자를 대체하진 않는다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60904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660904"/>
            <a:ext cx="4623663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전문성 있는 개발자는 더 강해진다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09544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209544"/>
            <a:ext cx="4623663" cy="32085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 err="1">
                <a:solidFill>
                  <a:srgbClr val="FFFFFF"/>
                </a:solidFill>
                <a:latin typeface="Malgun Gothic"/>
              </a:rPr>
              <a:t>AI는</a:t>
            </a:r>
            <a:r>
              <a:rPr sz="15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Malgun Gothic"/>
              </a:rPr>
              <a:t>도구</a:t>
            </a:r>
            <a:r>
              <a:rPr sz="1500" b="0" i="0" dirty="0">
                <a:solidFill>
                  <a:srgbClr val="FFFFFF"/>
                </a:solidFill>
                <a:latin typeface="Malgun Gothic"/>
              </a:rPr>
              <a:t> — 잘 </a:t>
            </a:r>
            <a:r>
              <a:rPr sz="1500" b="0" i="0" dirty="0" err="1">
                <a:solidFill>
                  <a:srgbClr val="FFFFFF"/>
                </a:solidFill>
                <a:latin typeface="Malgun Gothic"/>
              </a:rPr>
              <a:t>쓰는</a:t>
            </a:r>
            <a:r>
              <a:rPr sz="15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1500" b="0" i="0" dirty="0" smtClean="0">
                <a:solidFill>
                  <a:srgbClr val="FFFFFF"/>
                </a:solidFill>
                <a:latin typeface="Malgun Gothic"/>
              </a:rPr>
              <a:t>사람이 앞서간다</a:t>
            </a:r>
            <a:endParaRPr sz="1500" b="0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758184"/>
            <a:ext cx="365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D4FF"/>
                </a:solidFill>
                <a:latin typeface="Malgun Gothic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758184"/>
            <a:ext cx="4623663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700"/>
                </a:solidFill>
                <a:latin typeface="Malgun Gothic"/>
              </a:rPr>
              <a:t>불확실성 속에서 내 결정이 중요하다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417320"/>
            <a:ext cx="5364327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FFFFF"/>
                </a:solidFill>
                <a:latin typeface="Malgun Gothic"/>
              </a:rPr>
              <a:t>AI 시대에도 결국 중요한 건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D700"/>
                </a:solidFill>
                <a:latin typeface="Malgun Gothic"/>
              </a:rPr>
              <a:t>'사람'과 '전문성'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입니다.</a:t>
            </a:r>
          </a:p>
          <a:p>
            <a:pPr algn="l">
              <a:lnSpc>
                <a:spcPct val="140000"/>
              </a:lnSpc>
            </a:pPr>
            <a:endParaRPr sz="1800" b="0" i="0">
              <a:solidFill>
                <a:srgbClr val="FFFFFF"/>
              </a:solidFill>
              <a:latin typeface="Malgun Gothic"/>
            </a:endParaRP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여러분이 무엇을 좋아하고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무엇을 잘하고 싶은지</a:t>
            </a:r>
          </a:p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그것부터 찾으세요.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5349240"/>
            <a:ext cx="5364327" cy="640080"/>
          </a:xfrm>
          <a:prstGeom prst="rect">
            <a:avLst/>
          </a:prstGeom>
          <a:solidFill>
            <a:srgbClr val="0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1607" y="5349240"/>
            <a:ext cx="4998567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D700"/>
                </a:solidFill>
                <a:latin typeface="Malgun Gothic"/>
              </a:rPr>
              <a:t>Q &amp; A  |  궁금한 것은 무엇이든 물어보세요!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1043</Words>
  <Application>Microsoft Office PowerPoint</Application>
  <PresentationFormat>와이드스크린</PresentationFormat>
  <Paragraphs>207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yunkwan.kim@gmail.com</cp:lastModifiedBy>
  <cp:revision>2</cp:revision>
  <dcterms:created xsi:type="dcterms:W3CDTF">2013-01-27T09:14:16Z</dcterms:created>
  <dcterms:modified xsi:type="dcterms:W3CDTF">2026-05-03T09:46:42Z</dcterms:modified>
  <cp:category/>
</cp:coreProperties>
</file>