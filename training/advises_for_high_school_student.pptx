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2563EB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2191695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400" b="1">
                <a:solidFill>
                  <a:srgbClr val="38BDF8"/>
                </a:solidFill>
                <a:latin typeface="맑은 고딕"/>
              </a:rPr>
              <a:t>AI 시대의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103120"/>
            <a:ext cx="12191695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400" b="1">
                <a:solidFill>
                  <a:srgbClr val="38BDF8"/>
                </a:solidFill>
                <a:latin typeface="맑은 고딕"/>
              </a:rPr>
              <a:t>소프트웨어 개발자의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834640"/>
            <a:ext cx="12191695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400" b="1">
                <a:solidFill>
                  <a:srgbClr val="38BDF8"/>
                </a:solidFill>
                <a:latin typeface="맑은 고딕"/>
              </a:rPr>
              <a:t>새로운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600" b="0">
                <a:solidFill>
                  <a:srgbClr val="64748B"/>
                </a:solidFill>
                <a:latin typeface="맑은 고딕"/>
              </a:rPr>
              <a:t>고등학생을 위한 AI 특강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0">
                <a:solidFill>
                  <a:srgbClr val="CBD5E1"/>
                </a:solidFill>
                <a:latin typeface="맑은 고딕"/>
              </a:rPr>
              <a:t>2026년 5월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강의 순서 (90분)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280160"/>
          <a:ext cx="9144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  <a:gridCol w="3048000"/>
              </a:tblGrid>
              <a:tr h="51435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시간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파트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00–05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인사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강사 소개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05–20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1부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문제 제기 — AI가 개발자를 대체하나?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20–45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2부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현상 분석 — 데이터로 보는 진실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45–55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휴식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쉬는 시간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55–75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3부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사례 — AI가 잘 못하는 영역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75–85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4부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업무 변화와 미래 전망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85–90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Q&amp;A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질의응답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강사 소개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4572000" cy="9144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371600"/>
            <a:ext cx="50800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463040"/>
            <a:ext cx="42062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64748B"/>
                </a:solidFill>
                <a:latin typeface="맑은 고딕"/>
              </a:rPr>
              <a:t>건국대학교 컴퓨터공학과 공학박사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4572000" cy="9144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560320"/>
            <a:ext cx="50800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651760"/>
            <a:ext cx="42062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>
                <a:solidFill>
                  <a:srgbClr val="64748B"/>
                </a:solidFill>
                <a:latin typeface="맑은 고딕"/>
              </a:rPr>
              <a:t>2012년 ~ 현재 · LG전자 CTO Software Platform Lab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371600"/>
          <a:ext cx="457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프로젝트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역할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webOS Platform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개발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webOS SDK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개발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LUPA Platform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개발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LUPA SDK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개발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5F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11680"/>
            <a:ext cx="1219169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5200" b="1">
                <a:solidFill>
                  <a:srgbClr val="38BDF8"/>
                </a:solidFill>
                <a:latin typeface="맑은 고딕"/>
              </a:rPr>
              <a:t>1부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200400"/>
            <a:ext cx="1219169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0">
                <a:solidFill>
                  <a:srgbClr val="FFFFFF"/>
                </a:solidFill>
                <a:latin typeface="맑은 고딕"/>
              </a:rPr>
              <a:t>AI가 개발자를 대체하는가?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>
                <a:solidFill>
                  <a:srgbClr val="64748B"/>
                </a:solidFill>
                <a:latin typeface="맑은 고딕"/>
              </a:rPr>
              <a:t>문제 제기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빅테크 CEO들의 선언 (2025)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8016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기업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누가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무슨 말을?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시기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CEO Sundar Pichai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신규 코드의 25~30% 이상이 AI 작성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01월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Meta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CEO Zuckerberg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AI가 중간급 엔지니어 대체할 것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01월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Shopify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CEO Tobi Lütke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AI가 못하는 걸 증명해야 채용 가능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04월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CEO Dario Amodei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기업 3/4이 AI에 전체 업무 위임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09월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Gartner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리서치 보고서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2030년까지 개발자 3명 중 1명 실직 전망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09월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4754880"/>
            <a:ext cx="10515600" cy="8229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4754880"/>
            <a:ext cx="50800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1498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64748B"/>
                </a:solidFill>
                <a:latin typeface="맑은 고딕"/>
              </a:rPr>
              <a:t>Amazon은 2025~2026년 사이 AI·자동화를 이유로 약 30,000명 감원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바이브 코딩(Vibe Coding)의 등장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10515600" cy="9144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50800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14984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64748B"/>
                </a:solidFill>
                <a:latin typeface="맑은 고딕"/>
              </a:rPr>
              <a:t>OpenAI 공동창립자 Andrej Karpathy가 2025년 2월 제안
"코드를 읽지 않고, 자연어로 지시만 하면 AI가 코드를 생성"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56032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585216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지표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Collins Dictionary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2025 올해의 단어 선정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Y Combinator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2025 Winter 스타트업 25%가 코드의 95%를 AI로 생성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Cursor (Anysphere)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기업가치 $293억 → xAI $600억 인수 논의 (2026.04)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바이브 코딩 스타트업 Windsurf $30억 인수 (2025.05)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바이브 코딩의 어두운 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80160"/>
          <a:ext cx="10515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791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사건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시기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Replit DB 삭제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에이전트가 프로덕션 DB 삭제 후 거짓 보고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2025.07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METR 연구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사용 시 오히려 19% 느려짐 (본인은 빨라졌다고 착각)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2025.07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GitClear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코드 리팩토링 25%→10% 미만, 코드 중복 4배 증가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바이브 코딩 숙취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"개발 지옥" — 시니어 엔지니어들의 고통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2025.09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오픈소스 위협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LLM이 대형 라이브러리에만 편향 → 신규 도구 발견 감소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2026.01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029200"/>
            <a:ext cx="10515600" cy="7315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5029200"/>
            <a:ext cx="50800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149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64748B"/>
                </a:solidFill>
                <a:latin typeface="맑은 고딕"/>
              </a:rPr>
              <a:t>Linus Torvalds: 바이브 코딩 사용하지만, 핵심 커널 코드가 아닌 부수적 도구에만 활용 (2026.01)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AI 슬롭(AI Slop) — 저품질 콘텐츠의 범람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10515600" cy="7315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50800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149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64748B"/>
                </a:solidFill>
                <a:latin typeface="맑은 고딕"/>
              </a:rPr>
              <a:t>"Slop" = Merriam-Webster &amp; 미국 방언학회 2025 올해의 단어 동시 선정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37744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85216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플랫폼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문제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시기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Steam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출시 게임의 20%가 AI 공시 포함 — "AI 쇼블웨어"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2025.07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Google Play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Angry Birds AI 이미지 비판 → 삭제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Lovable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1,645개 앱 중 170개에서 개인정보 노출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2025.05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한국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슬롭 콘텐츠 소비 세계 1위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2025.12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>
                <a:solidFill>
                  <a:srgbClr val="92400E"/>
                </a:solidFill>
                <a:latin typeface="맑은 고딕"/>
              </a:rP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560320"/>
            <a:ext cx="1219169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>
                <a:solidFill>
                  <a:srgbClr val="0F172A"/>
                </a:solidFill>
                <a:latin typeface="맑은 고딕"/>
              </a:rPr>
              <a:t>앞으로 SW 개발자의 수가 줄어들고
일자리도 없어지지 않을까?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5F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11680"/>
            <a:ext cx="1219169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5200" b="1">
                <a:solidFill>
                  <a:srgbClr val="38BDF8"/>
                </a:solidFill>
                <a:latin typeface="맑은 고딕"/>
              </a:rPr>
              <a:t>2부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200400"/>
            <a:ext cx="1219169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0">
                <a:solidFill>
                  <a:srgbClr val="FFFFFF"/>
                </a:solidFill>
                <a:latin typeface="맑은 고딕"/>
              </a:rPr>
              <a:t>데이터로 보는 진실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>
                <a:solidFill>
                  <a:srgbClr val="64748B"/>
                </a:solidFill>
                <a:latin typeface="맑은 고딕"/>
              </a:rPr>
              <a:t>현상 분석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미국 SW 개발자 고용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64748B"/>
                </a:solidFill>
                <a:latin typeface="맑은 고딕"/>
              </a:rPr>
              <a:t>미국 노동통계국 (BLS, 2024년 기준)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737360"/>
          <a:ext cx="9144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4572000"/>
              </a:tblGrid>
              <a:tr h="5334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지표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수치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총 종사자 수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1,895,500명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중위 연봉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$133,080 / 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고용 전망 (2024–2034)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+15% 성장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10년 신규 고용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+287,900명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연간 채용 예상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~129,200건 / 년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371600" y="5212080"/>
            <a:ext cx="9144000" cy="6400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5212080"/>
            <a:ext cx="508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5303520"/>
            <a:ext cx="8778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64748B"/>
                </a:solidFill>
                <a:latin typeface="맑은 고딕"/>
              </a:rPr>
              <a:t>전체 직종 평균 대비 훨씬 빠른 성장 전망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전 세계 SW 개발자 규모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64748B"/>
                </a:solidFill>
                <a:latin typeface="맑은 고딕"/>
              </a:rPr>
              <a:t>GitHub Octoverse 2025 (2025.10 발표)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737360"/>
          <a:ext cx="9144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  <a:gridCol w="3048000"/>
              </a:tblGrid>
              <a:tr h="5334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지표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수치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변화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GitHub 전체 개발자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1.5억 명 이상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2025년 신규 가입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3,600만 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매 초 1명!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관련 저장소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430만 개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2년 새 2배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LLM SDK 사용 저장소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113만 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+178% YoY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신규 개발자 Copilot 사용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~80%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첫 주 내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371600" y="5212080"/>
            <a:ext cx="9144000" cy="6400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5212080"/>
            <a:ext cx="5080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5303520"/>
            <a:ext cx="8778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64748B"/>
                </a:solidFill>
                <a:latin typeface="맑은 고딕"/>
              </a:rPr>
              <a:t>개발자 수는 감소하지 않고 오히려 폭증 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한국 SW 개발자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64748B"/>
                </a:solidFill>
                <a:latin typeface="맑은 고딕"/>
              </a:rPr>
              <a:t>국내 ICT 인력 (ITSTAT, 2024 잠정치)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5029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51206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지표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수치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ICT 산업 전체 인력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220만 811명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SW 산업 종사자 (추정)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약 100만 명 이상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연평균 성장률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4~5% (최근 5년)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GitHub 기여자 순위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7위 (기여량 6위)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17373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1E3A5F"/>
                </a:solidFill>
                <a:latin typeface="맑은 고딕"/>
              </a:rPr>
              <a:t>주요 특징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377440"/>
            <a:ext cx="50292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E293B"/>
                </a:solidFill>
                <a:latin typeface="맑은 고딕"/>
              </a:rPr>
              <a:t>• 삼성·LG·카카오·네이버 등 대기업 중심 SW 인력 집중
• AI·클라우드·임베디드 분야 신규 수요 지속 증가
• 2025년 이후 AI 관련 채용 공고 전년 대비 급증세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AI 코딩에서 많이 쓰는 언어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64748B"/>
                </a:solidFill>
                <a:latin typeface="맑은 고딕"/>
              </a:rPr>
              <a:t>GitHub Octoverse 2025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5029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순위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언어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성장률 (YoY)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특징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1위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TypeScript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+66%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타입 안전성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+48%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AI/ML 표준 언어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3위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JavaScript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+24%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TS로 전환 가속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64748B"/>
                </a:solidFill>
                <a:latin typeface="맑은 고딕"/>
              </a:rPr>
              <a:t>AI 관련 저장소 언어별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737360"/>
          <a:ext cx="5029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언어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저장소 수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증가율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582,000개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+50.7%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TypeScript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86,000개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+77.9%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JavaScript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88,000개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+24.8%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828800" y="4297680"/>
            <a:ext cx="6035040" cy="457200"/>
          </a:xfrm>
          <a:prstGeom prst="rect">
            <a:avLst/>
          </a:prstGeom>
          <a:solidFill>
            <a:srgbClr val="3178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434340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TypeScript +66%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4937760"/>
            <a:ext cx="4389120" cy="457200"/>
          </a:xfrm>
          <a:prstGeom prst="rect">
            <a:avLst/>
          </a:prstGeom>
          <a:solidFill>
            <a:srgbClr val="306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498348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Python +48%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5577840"/>
            <a:ext cx="2194560" cy="457200"/>
          </a:xfrm>
          <a:prstGeom prst="rect">
            <a:avLst/>
          </a:prstGeom>
          <a:solidFill>
            <a:srgbClr val="F0D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5623559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JavaScript +24%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AI가 높이는 개발자 생산성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64748B"/>
                </a:solidFill>
                <a:latin typeface="맑은 고딕"/>
              </a:rPr>
              <a:t>GitHub Copilot × Accenture 연구 (2024)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5029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5334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지표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변화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Pull Request 수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+8.69%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PR 병합률 (코드 품질)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+15%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빌드 성공률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+84%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업무 만족도 향상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90% 응답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코딩이 즐거워짐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95% 응답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17373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64748B"/>
                </a:solidFill>
                <a:latin typeface="맑은 고딕"/>
              </a:rPr>
              <a:t>GitHub 개발자 설문 (2024)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377440"/>
            <a:ext cx="502920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E293B"/>
                </a:solidFill>
                <a:latin typeface="맑은 고딕"/>
              </a:rPr>
              <a:t>• 97% 이상이 AI 코딩 도구 사용 경험
• 절약된 시간 → 설계·협업·학습에 재투자
• 90% 코드 품질 향상 체감 (미국 응답자)
• 60~71%가 새 언어 습득 용이해짐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000" b="1">
                <a:solidFill>
                  <a:srgbClr val="065F46"/>
                </a:solidFill>
                <a:latin typeface="맑은 고딕"/>
              </a:rPr>
              <a:t>2부 핵심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>
                <a:solidFill>
                  <a:srgbClr val="0F172A"/>
                </a:solidFill>
                <a:latin typeface="맑은 고딕"/>
              </a:rPr>
              <a:t>일자리가 사라지는가?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920240"/>
            <a:ext cx="4572000" cy="1371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1920240"/>
            <a:ext cx="5080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0"/>
            <a:ext cx="42062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64748B"/>
                </a:solidFill>
                <a:latin typeface="맑은 고딕"/>
              </a:rPr>
              <a:t>미국 BLS: 2034년까지 +15% 성장 전망
GitHub: 매 초 1명씩 신규 개발자 가입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>
                <a:solidFill>
                  <a:srgbClr val="0F172A"/>
                </a:solidFill>
                <a:latin typeface="맑은 고딕"/>
              </a:rPr>
              <a:t>AI가 바꾸는 것은?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920240"/>
            <a:ext cx="4572000" cy="1371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5080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011680"/>
            <a:ext cx="420624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64748B"/>
                </a:solidFill>
                <a:latin typeface="맑은 고딕"/>
              </a:rPr>
              <a:t>단순 코딩 → AI 도구 활용 + 전문적 설계·검증 중심
새 시장: AI 에이전트 · LLM 인프라 · Edge AI · SDV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5F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11680"/>
            <a:ext cx="1219169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5200" b="1">
                <a:solidFill>
                  <a:srgbClr val="38BDF8"/>
                </a:solidFill>
                <a:latin typeface="맑은 고딕"/>
              </a:rPr>
              <a:t>3부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200400"/>
            <a:ext cx="1219169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0">
                <a:solidFill>
                  <a:srgbClr val="FFFFFF"/>
                </a:solidFill>
                <a:latin typeface="맑은 고딕"/>
              </a:rPr>
              <a:t>AI가 잘 못하는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>
                <a:solidFill>
                  <a:srgbClr val="64748B"/>
                </a:solidFill>
                <a:latin typeface="맑은 고딕"/>
              </a:rPr>
              <a:t>사례 제시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임베디드 소프트웨어 — AI의 한계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64748B"/>
                </a:solidFill>
                <a:latin typeface="맑은 고딕"/>
              </a:rPr>
              <a:t>LG전자 임베디드 개발 현장의 이야기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5334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한계 요인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설명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비공개 코드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외부에 없는 사내 코드 → AI 학습 불가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하드웨어 의존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물리적 개입 없이 테스트 불가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할루시네이션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존재하지 않는 API를 생성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실시간성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타이밍이 중요한 RTOS 환경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안전 규격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AUTOSAR, DO-178C 등 인증 부담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5212080"/>
            <a:ext cx="10515600" cy="7315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5212080"/>
            <a:ext cx="50800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149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64748B"/>
                </a:solidFill>
                <a:latin typeface="맑은 고딕"/>
              </a:rPr>
              <a:t>"우리가 AI의 인간 하네스(harness)가 될 수도 있다" — 현장 개발자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하지만 임베디드 × AI는 가장 뜨거운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80160"/>
          <a:ext cx="10515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5791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사례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Tesla FSD v12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30만 줄 C++ → 엔드투엔드 신경망으로 대체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Edge AI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기기 자체에서 AI 추론 (지연시간↓, 프라이버시↑)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NVIDIA Jetson/DRIVE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자동차·로봇·드론용 AI 추론 플랫폼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SDV (Software-Defined Vehicle)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현대·기아, BMW — OTA 업데이트 + AI 보조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LG webOS AI ThinQ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TV·냉장고에 음성인식·에너지 최적화 탑재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029200"/>
            <a:ext cx="10515600" cy="7315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5029200"/>
            <a:ext cx="50800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149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64748B"/>
                </a:solidFill>
                <a:latin typeface="맑은 고딕"/>
              </a:rPr>
              <a:t>임베디드 AI는 "코딩 보조"가 아닌 제품 자체에 AI를 탑재하는 방향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AI 코드는 안전한가?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64748B"/>
                </a:solidFill>
                <a:latin typeface="맑은 고딕"/>
              </a:rPr>
              <a:t>AI 생성 코드의 보안 연구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5029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연구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결과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시기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CodeRabbit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주요 문제 1.7배, 보안 취약점 2.74배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2025.12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Veracode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3년간 기능↑, 보안성은 미개선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2025.10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GitHub CodeQL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Broken Access Control +172% YoY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DC2626"/>
                </a:solidFill>
                <a:latin typeface="맑은 고딕"/>
              </a:rPr>
              <a:t>실제 해킹 사고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73736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6096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사건</a:t>
                      </a:r>
                    </a:p>
                  </a:txBody>
                  <a:tcPr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DC2626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Lovable (2025.05)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1,645개 앱 중 170개에서 개인정보 노출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Orchids (2026.02)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BBC 기자 대상 실시간 해킹 시연 성공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4297680"/>
            <a:ext cx="10515600" cy="54864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434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64748B"/>
                </a:solidFill>
                <a:latin typeface="맑은 고딕"/>
              </a:rPr>
              <a:t>인간 코드 보안 취약점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029200"/>
            <a:ext cx="10515600" cy="5486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AI 코드 보안 취약점 (2.74배)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AI가 대체하기 어려운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64748B"/>
                </a:solidFill>
                <a:latin typeface="맑은 고딕"/>
              </a:rPr>
              <a:t>보안·금융·방위산업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85216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분야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AI 도입 상황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AI의 한계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금융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코드 생성은 가능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보안 검증 → 전문가 필수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방위산업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2중 3중 안전장치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검증 부담 오히려 증가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의료기기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IEC 62304 규격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코드 인증 미확립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항공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DO-178C 규격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모든 코드 경로 증명 필요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5029200"/>
            <a:ext cx="10515600" cy="8229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5029200"/>
            <a:ext cx="50800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1498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64748B"/>
                </a:solidFill>
                <a:latin typeface="맑은 고딕"/>
              </a:rPr>
              <a:t>AI 생산성 향상 = 동시에 검증 업무량 증가
→ 보안·검증 전문가 수요 급증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5F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11680"/>
            <a:ext cx="1219169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5200" b="1">
                <a:solidFill>
                  <a:srgbClr val="38BDF8"/>
                </a:solidFill>
                <a:latin typeface="맑은 고딕"/>
              </a:rPr>
              <a:t>4부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200400"/>
            <a:ext cx="1219169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0">
                <a:solidFill>
                  <a:srgbClr val="FFFFFF"/>
                </a:solidFill>
                <a:latin typeface="맑은 고딕"/>
              </a:rPr>
              <a:t>업무의 변화와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>
                <a:solidFill>
                  <a:srgbClr val="64748B"/>
                </a:solidFill>
                <a:latin typeface="맑은 고딕"/>
              </a:rPr>
              <a:t>현장 경험담 + 전망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실제 업무는 어떻게 변했나?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80160"/>
          <a:ext cx="10515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791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변화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After (AI 도입)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코드 작성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직접 한 줄씩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초안 → 검토·수정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문서 작성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가장 힘든 업무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초안 생성 → 10분 완료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자료 분석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1시간 이상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AI로 10분에 처리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기술 학습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공식문서 + 유튜브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AI에게 바로 질문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데모 영상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직접 촬영·편집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AI로 자동 생성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029200"/>
            <a:ext cx="10515600" cy="8229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5029200"/>
            <a:ext cx="50800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1498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0">
                <a:solidFill>
                  <a:srgbClr val="64748B"/>
                </a:solidFill>
                <a:latin typeface="맑은 고딕"/>
              </a:rPr>
              <a:t>생산성이 올라가니 할 일이 더 많아졌다
1년 계획을 세웠는데 3개월에 끝남 → 더 많은 프로젝트 진행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개발자의 미래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E3A5F"/>
                </a:solidFill>
                <a:latin typeface="맑은 고딕"/>
              </a:rPr>
              <a:t>확실한 것들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029200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E293B"/>
                </a:solidFill>
                <a:latin typeface="맑은 고딕"/>
              </a:rPr>
              <a:t>1. 끊임없는 학습은 10년 전에도,
   지금도, 미래에도 필수
2. 전문가의 역할은 AI 시대에
   오히려 더 커진다
3. AI는 도구다 — 망치를 잘 쓰는
   목수가 더 좋은 가구를 만든다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E3A5F"/>
                </a:solidFill>
                <a:latin typeface="맑은 고딕"/>
              </a:rPr>
              <a:t>미래에 유망한 분야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737360"/>
          <a:ext cx="5029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5334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분야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이유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에이전트 개발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새로운 SW 패러다임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임베디드 + AI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제품에 AI 탑재 증가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보안·검증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코드 안전성 확인 필수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LLM 인프라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서비스 기반 구축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Edge AI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기기 자체에서 AI 처리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미래는 불확실하다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1E3A5F"/>
                </a:solidFill>
                <a:latin typeface="맑은 고딕"/>
              </a:rPr>
              <a:t>비트코인의 교훈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5029200" cy="1097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50800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64748B"/>
                </a:solidFill>
                <a:latin typeface="맑은 고딕"/>
              </a:rPr>
              <a:t>처음: "암호키를 사고파는 다단계?"
현재: 디지털 자산의 표준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1E3A5F"/>
                </a:solidFill>
                <a:latin typeface="맑은 고딕"/>
              </a:rPr>
              <a:t>기술 도입은 예측이 어렵다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40480"/>
            <a:ext cx="5029200" cy="1097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840480"/>
            <a:ext cx="50800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64748B"/>
                </a:solidFill>
                <a:latin typeface="맑은 고딕"/>
              </a:rPr>
              <a:t>효용성·경제적 가치보다 정치·사회적 요인이 더 큰 영향
의료·법률 분야의 AI 도입 → 정치적 요인이 최대 걸림돌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1E3A5F"/>
                </a:solidFill>
                <a:latin typeface="맑은 고딕"/>
              </a:rPr>
              <a:t>양자 컴퓨터와 비트코인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920240"/>
            <a:ext cx="5029200" cy="1097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920240"/>
            <a:ext cx="50800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01168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64748B"/>
                </a:solidFill>
                <a:latin typeface="맑은 고딕"/>
              </a:rPr>
              <a:t>양자 컴퓨터가 개발되면
비트코인 가치는 올라갈까, 떨어질까?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9184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>
                <a:solidFill>
                  <a:srgbClr val="1E3A5F"/>
                </a:solidFill>
                <a:latin typeface="맑은 고딕"/>
              </a:rPr>
              <a:t>AI 신뢰성 문제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840480"/>
            <a:ext cx="5029200" cy="1097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840480"/>
            <a:ext cx="50800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931920"/>
            <a:ext cx="46634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64748B"/>
                </a:solidFill>
                <a:latin typeface="맑은 고딕"/>
              </a:rPr>
              <a:t>작고 단순한 문제 → OK
크고 복잡한 문제 → 아직 믿기 어렵다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핵심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8016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58782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오해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진실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AI가 개발자를 대체한다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일부 업무 대체, 전체 고용은 +15% 성장 중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코딩만 잘하면 된다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문제 해결·설계·검증 능력이 더 중요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코드는 안전하다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보안 취약점이 인간 코드의 2.74배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개발자 수가 줄어든다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GitHub에서 매 초 1명 신규 가입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임베디드는 AI와 무관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제품 자체에 AI 탑재 — 가장 뜨거운 분야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바이브 코딩이면 충분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기술 부채 4배, 보안 사고 빈발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400" b="1">
                <a:solidFill>
                  <a:srgbClr val="065F46"/>
                </a:solidFill>
                <a:latin typeface="맑은 고딕"/>
              </a:rPr>
              <a:t>여러분에게 드리는 조언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F172A"/>
                </a:solidFill>
                <a:latin typeface="맑은 고딕"/>
              </a:rPr>
              <a:t>나를 위한 결정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920240"/>
            <a:ext cx="4572000" cy="16459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1920240"/>
            <a:ext cx="50800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0"/>
            <a:ext cx="420624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64748B"/>
                </a:solidFill>
                <a:latin typeface="맑은 고딕"/>
              </a:rPr>
              <a:t>1. 내가 하고 싶은 것을 찾아라
2. 무엇을 공부할지는 남이 아닌 내가 결정한다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F172A"/>
                </a:solidFill>
                <a:latin typeface="맑은 고딕"/>
              </a:rPr>
              <a:t>불확실성에 대응하는 방법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920240"/>
            <a:ext cx="4572000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50800" cy="2560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011680"/>
            <a:ext cx="4206240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64748B"/>
                </a:solidFill>
                <a:latin typeface="맑은 고딕"/>
              </a:rPr>
              <a:t>• 끊임없이 배우기 — 기술은 계속 변한다
• 부지런한 정보 수집 — 트렌드를 놓치지 않는다
• 깊이 있는 전문성 — AI가 대체하기 어렵다
• 호기심을 잃지 않기 — 새 기술을 두려워하지 않는다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2563EB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5200" b="1">
                <a:solidFill>
                  <a:srgbClr val="38BDF8"/>
                </a:solidFill>
                <a:latin typeface="맑은 고딕"/>
              </a:rPr>
              <a:t>감사합니다!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000" b="0">
                <a:solidFill>
                  <a:srgbClr val="FFFFFF"/>
                </a:solidFill>
                <a:latin typeface="맑은 고딕"/>
              </a:rP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>
                <a:solidFill>
                  <a:srgbClr val="64748B"/>
                </a:solidFill>
                <a:latin typeface="맑은 고딕"/>
              </a:rPr>
              <a:t>건국대학교 컴퓨터공학과 공학박사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>
                <a:solidFill>
                  <a:srgbClr val="64748B"/>
                </a:solidFill>
                <a:latin typeface="맑은 고딕"/>
              </a:rPr>
              <a:t>LG전자 CTO Software Platform Lab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>
                <a:solidFill>
                  <a:srgbClr val="0F172A"/>
                </a:solidFill>
                <a:latin typeface="맑은 고딕"/>
              </a:rPr>
              <a:t>참고 자료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8288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280160"/>
          <a:ext cx="10515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주제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출처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미국 SW 개발자 고용 통계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U.S. Bureau of Labor Statistics (2025)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전 세계 개발자 현황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GitHub Octoverse 2025 (2025.10)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Copilot 기업 연구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GitHub × Accenture (2024)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바이브 코딩 정의 &amp; 문제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Wikipedia / Collins Dictionary (2025)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코드 보안 취약점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CodeRabbit (2025.12) / Veracode (2025.10)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생태계 보안 사고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Semafor (2025.05) / BBC News (2026.02)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개발자 1/3 실직 전망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Gartner (2025.09)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Shopify AI 채용 정책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CNBC (2025.04)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AI 슬롭 현상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Wikipedia: AI slop / Korea Herald (2025.12)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한국 ICT 인력 현황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ITSTAT ICT통계포털 (2024 잠정)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Tesla FSD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Wikipedia: Tesla Autopilot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Cursor (Anysphere)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맑은 고딕"/>
                        </a:defRPr>
                      </a:pPr>
                      <a:r>
                        <a:t>Wikipedia: Anysphere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